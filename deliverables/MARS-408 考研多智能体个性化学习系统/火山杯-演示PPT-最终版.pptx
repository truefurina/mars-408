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38100"/>
          </a:xfrm>
          <a:prstGeom prst="rect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9EA8"/>
                </a:solidFill>
                <a:latin typeface="Microsoft YaHei"/>
                <a:ea typeface="Microsoft YaHei"/>
                <a:cs typeface="Microsoft YaHei"/>
              </a:rPr>
              <a:t>2026 福建高校「火山杯」Agent 创新大赛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MARS-408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考研多智能体个性化学习系统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9DAEC"/>
                </a:solidFill>
                <a:latin typeface="Microsoft YaHei"/>
                <a:ea typeface="Microsoft YaHei"/>
                <a:cs typeface="Microsoft YaHei"/>
              </a:rPr>
              <a:t>让 AI 从「回答问题」到「真正懂你」—— 10 节点多智能体流水线驱动的考研学习教练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AFC3DA"/>
                </a:solidFill>
                <a:latin typeface="Microsoft YaHei"/>
                <a:ea typeface="Microsoft YaHei"/>
                <a:cs typeface="Microsoft YaHei"/>
              </a:rPr>
              <a:t>覆盖 408 计算机考研四科：数据结构 · 计算机组成原理 · 操作系统 · 计算机网络
赛道方向：未来学习中心（个性化学习规划 / 知识图谱 / 学习效果追踪）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一、痛点：为什么传统 AI 助教不够用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46304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BFD4E8"/>
                </a:solidFill>
                <a:latin typeface="Microsoft YaHei"/>
                <a:ea typeface="Microsoft YaHei"/>
                <a:cs typeface="Microsoft YaHei"/>
              </a:rPr>
              <a:t>未来学习中心 · 场景切入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7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7B"/>
                </a:solidFill>
                <a:latin typeface="Microsoft YaHei"/>
                <a:ea typeface="Microsoft YaHei"/>
                <a:cs typeface="Microsoft YaHei"/>
              </a:rPr>
              <a:t>MARS-408 · 2026 福建高校「火山杯」Agent 创新大赛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408 计算机考研是百万级考研大军中竞争最激烈的赛道，备考长期面临三大困境：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3611880" cy="196596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54864" cy="19659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6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5C99"/>
                </a:solidFill>
                <a:latin typeface="Microsoft YaHei"/>
                <a:ea typeface="Microsoft YaHei"/>
                <a:cs typeface="Microsoft YaHei"/>
              </a:rPr>
              <a:t>困境 1 · 资料海量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286000"/>
            <a:ext cx="32461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教材、题库、网课、笔记信息过载，
「该学什么」全靠个人感觉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783080"/>
            <a:ext cx="3611880" cy="196596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783080"/>
            <a:ext cx="54864" cy="1965960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1911096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6A17"/>
                </a:solidFill>
                <a:latin typeface="Microsoft YaHei"/>
                <a:ea typeface="Microsoft YaHei"/>
                <a:cs typeface="Microsoft YaHei"/>
              </a:rPr>
              <a:t>困境 2 · 无人诊断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286000"/>
            <a:ext cx="32461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薄弱点靠猜：学没学会、错在哪、
下一步学什么，没有客观依据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783080"/>
            <a:ext cx="3611880" cy="196596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783080"/>
            <a:ext cx="54864" cy="1965960"/>
          </a:xfrm>
          <a:prstGeom prst="rect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1911096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9EA8"/>
                </a:solidFill>
                <a:latin typeface="Microsoft YaHei"/>
                <a:ea typeface="Microsoft YaHei"/>
                <a:cs typeface="Microsoft YaHei"/>
              </a:rPr>
              <a:t>困境 3 · 学练割裂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286000"/>
            <a:ext cx="32461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刷题与讲解脱节，错题无人讲解，
讲解后无人出题验证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977639"/>
            <a:ext cx="11201400" cy="192024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977639"/>
            <a:ext cx="54864" cy="1920240"/>
          </a:xfrm>
          <a:prstGeom prst="rect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160520"/>
            <a:ext cx="106984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22A4A"/>
                </a:solidFill>
                <a:latin typeface="Microsoft YaHei"/>
                <a:ea typeface="Microsoft YaHei"/>
                <a:cs typeface="Microsoft YaHei"/>
              </a:rPr>
              <a:t>传统 AI 助手只能「一问一答」：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回答完就结束，没有诊断、没有规划、没有追踪，无法完成「诊断 → 规划 → 讲解 → 练习 → 复盘」的学习闭环。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E86A17"/>
                </a:solidFill>
                <a:latin typeface="Microsoft YaHei"/>
                <a:ea typeface="Microsoft YaHei"/>
                <a:cs typeface="Microsoft YaHei"/>
              </a:rPr>
              <a:t>
MARS-408 的目标：让 AI 从「回答问题的工具」升级为「真正懂你的学习教练」。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二、产品定位：多智能体学习教练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7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7B"/>
                </a:solidFill>
                <a:latin typeface="Microsoft YaHei"/>
                <a:ea typeface="Microsoft YaHei"/>
                <a:cs typeface="Microsoft YaHei"/>
              </a:rPr>
              <a:t>MARS-408 · 2026 福建高校「火山杯」Agent 创新大赛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2057400" cy="1417320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783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学情诊断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E8F1FA"/>
                </a:solidFill>
                <a:latin typeface="Microsoft YaHei"/>
                <a:ea typeface="Microsoft YaHei"/>
                <a:cs typeface="Microsoft YaHei"/>
              </a:rPr>
              <a:t>diagnostician
定位薄弱知识点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78608" y="2103120"/>
            <a:ext cx="192024" cy="411480"/>
          </a:xfrm>
          <a:prstGeom prst="rightArrow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88920" y="1600200"/>
            <a:ext cx="2057400" cy="1417320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783080"/>
            <a:ext cx="1783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路径规划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286000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E8F1FA"/>
                </a:solidFill>
                <a:latin typeface="Microsoft YaHei"/>
                <a:ea typeface="Microsoft YaHei"/>
                <a:cs typeface="Microsoft YaHei"/>
              </a:rPr>
              <a:t>planner / path_planner
制定个性化学习路径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64608" y="2103120"/>
            <a:ext cx="192024" cy="411480"/>
          </a:xfrm>
          <a:prstGeom prst="rightArrow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74920" y="1600200"/>
            <a:ext cx="2057400" cy="1417320"/>
          </a:xfrm>
          <a:prstGeom prst="roundRect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1783080"/>
            <a:ext cx="1783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讲解生成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286000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E8F1FA"/>
                </a:solidFill>
                <a:latin typeface="Microsoft YaHei"/>
                <a:ea typeface="Microsoft YaHei"/>
                <a:cs typeface="Microsoft YaHei"/>
              </a:rPr>
              <a:t>generator_cluster
7 种资源并行生成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50608" y="2103120"/>
            <a:ext cx="192024" cy="411480"/>
          </a:xfrm>
          <a:prstGeom prst="rightArrow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60920" y="1600200"/>
            <a:ext cx="2057400" cy="1417320"/>
          </a:xfrm>
          <a:prstGeom prst="round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0" y="1783080"/>
            <a:ext cx="1783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出题评估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2286000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E8F1FA"/>
                </a:solidFill>
                <a:latin typeface="Microsoft YaHei"/>
                <a:ea typeface="Microsoft YaHei"/>
                <a:cs typeface="Microsoft YaHei"/>
              </a:rPr>
              <a:t>assessor
按难度出题并批改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436608" y="2103120"/>
            <a:ext cx="192024" cy="411480"/>
          </a:xfrm>
          <a:prstGeom prst="rightArrow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46920" y="1600200"/>
            <a:ext cx="2057400" cy="1417320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1783080"/>
            <a:ext cx="1783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复盘迭代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286000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E8F1FA"/>
                </a:solidFill>
                <a:latin typeface="Microsoft YaHei"/>
                <a:ea typeface="Microsoft YaHei"/>
                <a:cs typeface="Microsoft YaHei"/>
              </a:rPr>
              <a:t>critic + evidence_check
质量校验与证据核查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3832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2A4A"/>
                </a:solidFill>
                <a:latin typeface="Microsoft YaHei"/>
                <a:ea typeface="Microsoft YaHei"/>
                <a:cs typeface="Microsoft YaHei"/>
              </a:rPr>
              <a:t>完整闭环：每一次提问都不是终点，而是下一次更懂你的起点。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977639"/>
            <a:ext cx="3611880" cy="18288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3977639"/>
            <a:ext cx="54864" cy="18288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4105655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5C99"/>
                </a:solidFill>
                <a:latin typeface="Microsoft YaHei"/>
                <a:ea typeface="Microsoft YaHei"/>
                <a:cs typeface="Microsoft YaHei"/>
              </a:rPr>
              <a:t>主动规划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4480559"/>
            <a:ext cx="3246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系统自动拆解学习任务、
规划分步路径，而非被动应答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3977639"/>
            <a:ext cx="3611880" cy="18288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80" y="3977639"/>
            <a:ext cx="54864" cy="1828800"/>
          </a:xfrm>
          <a:prstGeom prst="rect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8848" y="4105655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9EA8"/>
                </a:solidFill>
                <a:latin typeface="Microsoft YaHei"/>
                <a:ea typeface="Microsoft YaHei"/>
                <a:cs typeface="Microsoft YaHei"/>
              </a:rPr>
              <a:t>多轮交互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8" y="4480559"/>
            <a:ext cx="3246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支持追问、引导与纠错，
对话上下文持续积累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92440" y="3977639"/>
            <a:ext cx="3611880" cy="18288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3977639"/>
            <a:ext cx="54864" cy="1828800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3608" y="4105655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6A17"/>
                </a:solidFill>
                <a:latin typeface="Microsoft YaHei"/>
                <a:ea typeface="Microsoft YaHei"/>
                <a:cs typeface="Microsoft YaHei"/>
              </a:rPr>
              <a:t>工具协同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3608" y="4480559"/>
            <a:ext cx="3246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知识库检索 + 计算工具 + 多模态生成，
Agent 不只是「说」而是「做」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三、核心创新 ①：多智能体共识，从机制上防幻觉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46304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BFD4E8"/>
                </a:solidFill>
                <a:latin typeface="Microsoft YaHei"/>
                <a:ea typeface="Microsoft YaHei"/>
                <a:cs typeface="Microsoft YaHei"/>
              </a:rPr>
              <a:t>区别于普通问答 / 简单内容生成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7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7B"/>
                </a:solidFill>
                <a:latin typeface="Microsoft YaHei"/>
                <a:ea typeface="Microsoft YaHei"/>
                <a:cs typeface="Microsoft YaHei"/>
              </a:rPr>
              <a:t>MARS-408 · 2026 福建高校「火山杯」Agent 创新大赛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为什么是「多个 Agent」而不是「一个大模型」？—— 单模型自说自话无法自我纠错：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2628900" cy="1417320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23545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 Agent 独立作答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23545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E8F1FA"/>
                </a:solidFill>
                <a:latin typeface="Microsoft YaHei"/>
                <a:ea typeface="Microsoft YaHei"/>
                <a:cs typeface="Microsoft YaHei"/>
              </a:rPr>
              <a:t>不同角色各出答案
（讲解 / 出题 / 校验）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50108" y="2331720"/>
            <a:ext cx="192024" cy="411480"/>
          </a:xfrm>
          <a:prstGeom prst="rightArrow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0420" y="1828800"/>
            <a:ext cx="2628900" cy="1417320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7580" y="2011680"/>
            <a:ext cx="23545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GoMARL 加权共识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7580" y="2514600"/>
            <a:ext cx="23545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E8F1FA"/>
                </a:solidFill>
                <a:latin typeface="Microsoft YaHei"/>
                <a:ea typeface="Microsoft YaHei"/>
                <a:cs typeface="Microsoft YaHei"/>
              </a:rPr>
              <a:t>基于 GoMARL 思想的
加权共识引擎裁决分歧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07608" y="2331720"/>
            <a:ext cx="192024" cy="411480"/>
          </a:xfrm>
          <a:prstGeom prst="rightArrow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828800"/>
            <a:ext cx="2628900" cy="1417320"/>
          </a:xfrm>
          <a:prstGeom prst="round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011680"/>
            <a:ext cx="23545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冲突消解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514600"/>
            <a:ext cx="23545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E8F1FA"/>
                </a:solidFill>
                <a:latin typeface="Microsoft YaHei"/>
                <a:ea typeface="Microsoft YaHei"/>
                <a:cs typeface="Microsoft YaHei"/>
              </a:rPr>
              <a:t>发现知识矛盾（如
「三次握手 vs 四次挥手」）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65108" y="2331720"/>
            <a:ext cx="192024" cy="411480"/>
          </a:xfrm>
          <a:prstGeom prst="rightArrow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75420" y="1828800"/>
            <a:ext cx="2628900" cy="1417320"/>
          </a:xfrm>
          <a:prstGeom prst="roundRect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2580" y="2011680"/>
            <a:ext cx="23545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证据链复核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2514600"/>
            <a:ext cx="23545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E8F1FA"/>
                </a:solidFill>
                <a:latin typeface="Microsoft YaHei"/>
                <a:ea typeface="Microsoft YaHei"/>
                <a:cs typeface="Microsoft YaHei"/>
              </a:rPr>
              <a:t>知识库检索证据 +
真实大模型复核事实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611880"/>
            <a:ext cx="11201400" cy="219456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611880"/>
            <a:ext cx="54864" cy="2194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3739896"/>
            <a:ext cx="10835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22A4A"/>
                </a:solidFill>
                <a:latin typeface="Microsoft YaHei"/>
                <a:ea typeface="Microsoft YaHei"/>
                <a:cs typeface="Microsoft YaHei"/>
              </a:rPr>
              <a:t>冲突消解引擎 · 工作流程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4114800"/>
            <a:ext cx="10835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① 多 Agent 输出不一致 → ② 冲突消解引擎基于证据链检索知识库 → ③ 由真实大模型复核事实后裁决 → ④ 输出带证据标注、可信度评分的最终答案。
与「提示词约束防幻觉」的本质区别：分歧被显式暴露、证据被显式检索、事实被显式复核——AI 幻觉从机制上被拦截。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三、核心创新 ②：三层画像 + 个性化闭环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7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7B"/>
                </a:solidFill>
                <a:latin typeface="Microsoft YaHei"/>
                <a:ea typeface="Microsoft YaHei"/>
                <a:cs typeface="Microsoft YaHei"/>
              </a:rPr>
              <a:t>MARS-408 · 2026 福建高校「火山杯」Agent 创新大赛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611880" cy="173736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54864" cy="17373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591056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5C99"/>
                </a:solidFill>
                <a:latin typeface="Microsoft YaHei"/>
                <a:ea typeface="Microsoft YaHei"/>
                <a:cs typeface="Microsoft YaHei"/>
              </a:rPr>
              <a:t>短期 · 对话记忆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65960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当前会话上下文持续跟踪，
追问与纠错不丢失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611880" cy="173736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54864" cy="1737360"/>
          </a:xfrm>
          <a:prstGeom prst="rect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591056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9EA8"/>
                </a:solidFill>
                <a:latin typeface="Microsoft YaHei"/>
                <a:ea typeface="Microsoft YaHei"/>
                <a:cs typeface="Microsoft YaHei"/>
              </a:rPr>
              <a:t>中期 · 语义记忆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965960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知识点掌握度动态更新，
薄弱点实时感知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463040"/>
            <a:ext cx="3611880" cy="173736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463040"/>
            <a:ext cx="54864" cy="1737360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591056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6A17"/>
                </a:solidFill>
                <a:latin typeface="Microsoft YaHei"/>
                <a:ea typeface="Microsoft YaHei"/>
                <a:cs typeface="Microsoft YaHei"/>
              </a:rPr>
              <a:t>长期 · 成长画像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965960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学习轨迹持续积累，
越用越懂你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4290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2A4A"/>
                </a:solidFill>
                <a:latin typeface="Microsoft YaHei"/>
                <a:ea typeface="Microsoft YaHei"/>
                <a:cs typeface="Microsoft YaHei"/>
              </a:rPr>
              <a:t>画像驱动 · 精准到每个知识点：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3192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9EA8"/>
                </a:solidFill>
                <a:latin typeface="Microsoft YaHei"/>
                <a:ea typeface="Microsoft YaHei"/>
                <a:cs typeface="Microsoft YaHei"/>
              </a:rPr>
              <a:t>▍</a:t>
            </a:r>
            <a:r>
              <a:rPr sz="140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个性化学习路径：依据画像与薄弱点动态规划「下一步学什么」，薄弱点优先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9EA8"/>
                </a:solidFill>
                <a:latin typeface="Microsoft YaHei"/>
                <a:ea typeface="Microsoft YaHei"/>
                <a:cs typeface="Microsoft YaHei"/>
              </a:rPr>
              <a:t>▍</a:t>
            </a:r>
            <a:r>
              <a:rPr sz="140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专属练习生成：按科目 / 章节 / 难度自动出题，答后自动批改并反哺画像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9EA8"/>
                </a:solidFill>
                <a:latin typeface="Microsoft YaHei"/>
                <a:ea typeface="Microsoft YaHei"/>
                <a:cs typeface="Microsoft YaHei"/>
              </a:rPr>
              <a:t>▍</a:t>
            </a:r>
            <a:r>
              <a:rPr sz="140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学习效果追踪：多维评估报告（知识点掌握 / 答题正确率 / 薄弱点变化），教师端支持班级学情聚合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四、技术实现 · 整体架构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7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7B"/>
                </a:solidFill>
                <a:latin typeface="Microsoft YaHei"/>
                <a:ea typeface="Microsoft YaHei"/>
                <a:cs typeface="Microsoft YaHei"/>
              </a:rPr>
              <a:t>MARS-408 · 2026 福建高校「火山杯」Agent 创新大赛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201400" cy="105156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54864" cy="10515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35608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5C99"/>
                </a:solidFill>
                <a:latin typeface="Microsoft YaHei"/>
                <a:ea typeface="Microsoft YaHei"/>
                <a:cs typeface="Microsoft YaHei"/>
              </a:rPr>
              <a:t>前端层 · Vue 3 + 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68 个页面 · Vite 构建 · 多端多角色（学生端 / 教师看板）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43600" y="2386584"/>
            <a:ext cx="320040" cy="182880"/>
          </a:xfrm>
          <a:prstGeom prst="downArrow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78608"/>
            <a:ext cx="11201400" cy="105156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578608"/>
            <a:ext cx="54864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88336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22A4A"/>
                </a:solidFill>
                <a:latin typeface="Microsoft YaHei"/>
                <a:ea typeface="Microsoft YaHei"/>
                <a:cs typeface="Microsoft YaHei"/>
              </a:rPr>
              <a:t>智能体层 · FastAPI + LangGraph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81528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10 节点多智能体流水线 · GoMARL 共识引擎 · FrugalRAG 检索引擎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943600" y="3639312"/>
            <a:ext cx="320040" cy="182880"/>
          </a:xfrm>
          <a:prstGeom prst="downArrow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831336"/>
            <a:ext cx="11201400" cy="105156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831336"/>
            <a:ext cx="54864" cy="1051560"/>
          </a:xfrm>
          <a:prstGeom prst="rect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41064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9EA8"/>
                </a:solidFill>
                <a:latin typeface="Microsoft YaHei"/>
                <a:ea typeface="Microsoft YaHei"/>
                <a:cs typeface="Microsoft YaHei"/>
              </a:rPr>
              <a:t>模型层 · 双通道大模型自动容灾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34256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讯飞星火 X2（主通道） + DeepSeek（兜底） · 调用失败自动切换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943600" y="4892040"/>
            <a:ext cx="320040" cy="182880"/>
          </a:xfrm>
          <a:prstGeom prst="downArrow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084064"/>
            <a:ext cx="11201400" cy="105156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084064"/>
            <a:ext cx="54864" cy="1051560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193792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6A17"/>
                </a:solidFill>
                <a:latin typeface="Microsoft YaHei"/>
                <a:ea typeface="Microsoft YaHei"/>
                <a:cs typeface="Microsoft YaHei"/>
              </a:rPr>
              <a:t>数据层 · 多级存储与自动降级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586984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Milvus / InMemoryVectorStore · PostgreSQL / SQLite · Redis / 内存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四、技术实现 · 10 节点多智能体流水线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46304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BFD4E8"/>
                </a:solidFill>
                <a:latin typeface="Microsoft YaHei"/>
                <a:ea typeface="Microsoft YaHei"/>
                <a:cs typeface="Microsoft YaHei"/>
              </a:rPr>
              <a:t>LangGraph 状态图编排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7B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7B"/>
                </a:solidFill>
                <a:latin typeface="Microsoft YaHei"/>
                <a:ea typeface="Microsoft YaHei"/>
                <a:cs typeface="Microsoft YaHei"/>
              </a:rPr>
              <a:t>MARS-408 · 2026 福建高校「火山杯」Agent 创新大赛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34440"/>
          <a:ext cx="1120140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5074920"/>
                <a:gridCol w="301752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</a:t>
                      </a:r>
                    </a:p>
                  </a:txBody>
                  <a:tcPr marL="91440" marR="91440" marT="27432" marB="27432" anchor="ctr">
                    <a:solidFill>
                      <a:srgbClr val="12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91440" marR="91440" marT="27432" marB="27432" anchor="ctr">
                    <a:solidFill>
                      <a:srgbClr val="12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产出</a:t>
                      </a:r>
                    </a:p>
                  </a:txBody>
                  <a:tcPr marL="91440" marR="91440" marT="27432" marB="27432" anchor="ctr">
                    <a:solidFill>
                      <a:srgbClr val="122A4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coordinator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识别意图、全局协调、任务分派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任务路由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diagnostician</a:t>
                      </a:r>
                    </a:p>
                  </a:txBody>
                  <a:tcPr marL="91440" marR="91440" marT="27432" marB="27432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学情诊断，定位薄弱知识点</a:t>
                      </a:r>
                    </a:p>
                  </a:txBody>
                  <a:tcPr marL="91440" marR="91440" marT="27432" marB="27432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诊断报告</a:t>
                      </a:r>
                    </a:p>
                  </a:txBody>
                  <a:tcPr marL="91440" marR="91440" marT="27432" marB="27432" anchor="ctr">
                    <a:solidFill>
                      <a:srgbClr val="F2F6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planner / path_planner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分析画像、制定分步学习计划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学习路径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retriever</a:t>
                      </a:r>
                    </a:p>
                  </a:txBody>
                  <a:tcPr marL="91440" marR="91440" marT="27432" marB="27432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向量 + BM25 混合检索知识库</a:t>
                      </a:r>
                    </a:p>
                  </a:txBody>
                  <a:tcPr marL="91440" marR="91440" marT="27432" marB="27432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证据片段</a:t>
                      </a:r>
                    </a:p>
                  </a:txBody>
                  <a:tcPr marL="91440" marR="91440" marT="27432" marB="27432" anchor="ctr">
                    <a:solidFill>
                      <a:srgbClr val="F2F6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generator_cluster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 种资源并行生成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讲解 / 习题 / 导图 / PPT / 视频脚本等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assessor</a:t>
                      </a:r>
                    </a:p>
                  </a:txBody>
                  <a:tcPr marL="91440" marR="91440" marT="27432" marB="27432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按知识点与难度出题、批改反馈</a:t>
                      </a:r>
                    </a:p>
                  </a:txBody>
                  <a:tcPr marL="91440" marR="91440" marT="27432" marB="27432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练习题 / 评分</a:t>
                      </a:r>
                    </a:p>
                  </a:txBody>
                  <a:tcPr marL="91440" marR="91440" marT="27432" marB="27432" anchor="ctr">
                    <a:solidFill>
                      <a:srgbClr val="F2F6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critic / evidence_check / quality_gate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质量审核 · 证据核查 · 产物验收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审核报告 / 验收结论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B7B"/>
                </a:solidFill>
                <a:latin typeface="Microsoft YaHei"/>
                <a:ea typeface="Microsoft YaHei"/>
                <a:cs typeface="Microsoft YaHei"/>
              </a:rPr>
              <a:t>支持 7 种学习资源并行生成：讲解文档 · 练习题 · 思维导图 · 拓展阅读 · PPT 大纲 · 代码实操 · 视频脚本（SSE 流式进度推送）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四、技术实现 · 知识库与 FrugalRAG 检索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7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7B"/>
                </a:solidFill>
                <a:latin typeface="Microsoft YaHei"/>
                <a:ea typeface="Microsoft YaHei"/>
                <a:cs typeface="Microsoft YaHei"/>
              </a:rPr>
              <a:t>MARS-408 · 2026 福建高校「火山杯」Agent 创新大赛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201399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7726679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</a:t>
                      </a:r>
                    </a:p>
                  </a:txBody>
                  <a:tcPr marL="91440" marR="91440" marT="27432" marB="27432" anchor="ctr">
                    <a:solidFill>
                      <a:srgbClr val="12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</a:t>
                      </a:r>
                    </a:p>
                  </a:txBody>
                  <a:tcPr marL="91440" marR="91440" marT="27432" marB="27432" anchor="ctr">
                    <a:solidFill>
                      <a:srgbClr val="12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91440" marR="91440" marT="27432" marB="27432" anchor="ctr">
                    <a:solidFill>
                      <a:srgbClr val="122A4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知识分片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1883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739 knowledge_point + 1144 knowledge_variant，覆盖四科高频考点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练习题</a:t>
                      </a:r>
                    </a:p>
                  </a:txBody>
                  <a:tcPr marL="91440" marR="91440" marT="27432" marB="27432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</a:t>
                      </a:r>
                    </a:p>
                  </a:txBody>
                  <a:tcPr marL="91440" marR="91440" marT="27432" marB="27432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 / 填空 / 简答，覆盖四科</a:t>
                      </a:r>
                    </a:p>
                  </a:txBody>
                  <a:tcPr marL="91440" marR="91440" marT="27432" marB="27432" anchor="ctr">
                    <a:solidFill>
                      <a:srgbClr val="F2F6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向量条目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2083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全部真实 E5 嵌入（768 维），0 零向量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知识群组</a:t>
                      </a:r>
                    </a:p>
                  </a:txBody>
                  <a:tcPr marL="91440" marR="91440" marT="27432" marB="27432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</a:t>
                      </a:r>
                    </a:p>
                  </a:txBody>
                  <a:tcPr marL="91440" marR="91440" marT="27432" marB="27432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按四科章节划分，供跨群冲突检测</a:t>
                      </a:r>
                    </a:p>
                  </a:txBody>
                  <a:tcPr marL="91440" marR="91440" marT="27432" marB="27432"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6576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2A4A"/>
                </a:solidFill>
                <a:latin typeface="Microsoft YaHei"/>
                <a:ea typeface="Microsoft YaHei"/>
                <a:cs typeface="Microsoft YaHei"/>
              </a:rPr>
              <a:t>检索链路：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提问 → E5 向量检索 → BM25 全文检索 → 融合排序 → 个性化重排 → 增强生成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206240"/>
            <a:ext cx="11201400" cy="173736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4206240"/>
            <a:ext cx="54864" cy="1737360"/>
          </a:xfrm>
          <a:prstGeom prst="rect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334256"/>
            <a:ext cx="10835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09EA8"/>
                </a:solidFill>
                <a:latin typeface="Microsoft YaHei"/>
                <a:ea typeface="Microsoft YaHei"/>
                <a:cs typeface="Microsoft YaHei"/>
              </a:rPr>
              <a:t>工程韧性：检索降级守卫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709160"/>
            <a:ext cx="10835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检索链路异常时自动降级 BM25-only（携带 _degraded 标记），绝不静默返回空结果——保证演示与真实使用场景下系统始终可用、结果始终可解释。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五、量化实测 · 全部可复现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46304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BFD4E8"/>
                </a:solidFill>
                <a:latin typeface="Microsoft YaHei"/>
                <a:ea typeface="Microsoft YaHei"/>
                <a:cs typeface="Microsoft YaHei"/>
              </a:rPr>
              <a:t>真实运行产出 · 非虚构用户实验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7B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7B"/>
                </a:solidFill>
                <a:latin typeface="Microsoft YaHei"/>
                <a:ea typeface="Microsoft YaHei"/>
                <a:cs typeface="Microsoft YaHei"/>
              </a:rPr>
              <a:t>MARS-408 · 2026 福建高校「火山杯」Agent 创新大赛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201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017520"/>
                <a:gridCol w="553212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27432" marB="27432" anchor="ctr">
                    <a:solidFill>
                      <a:srgbClr val="12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27432" marB="27432" anchor="ctr">
                    <a:solidFill>
                      <a:srgbClr val="12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91440" marR="91440" marT="27432" marB="27432" anchor="ctr">
                    <a:solidFill>
                      <a:srgbClr val="122A4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检索增强效果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Recall@5 +15.8% / MRR +16.0%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对照无重排基线，CPU 真实运行（2026-08 实测）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检索层可回答率基线</a:t>
                      </a:r>
                    </a:p>
                  </a:txBody>
                  <a:tcPr marL="91440" marR="91440" marT="27432" marB="27432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answerable_rate 0.533</a:t>
                      </a:r>
                    </a:p>
                  </a:txBody>
                  <a:tcPr marL="91440" marR="91440" marT="27432" marB="27432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题四科验证集（eval_gold），持续回归用</a:t>
                      </a:r>
                    </a:p>
                  </a:txBody>
                  <a:tcPr marL="91440" marR="91440" marT="27432" marB="27432" anchor="ctr">
                    <a:solidFill>
                      <a:srgbClr val="F2F6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自动化测试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500+ 项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 契约 / 闭环流程 / 降级路径全覆盖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LLM 容灾</a:t>
                      </a:r>
                    </a:p>
                  </a:txBody>
                  <a:tcPr marL="91440" marR="91440" marT="27432" marB="27432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双通道自动切换</a:t>
                      </a:r>
                    </a:p>
                  </a:txBody>
                  <a:tcPr marL="91440" marR="91440" marT="27432" marB="27432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2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讯飞星火 X2 主通道 → DeepSeek 兜底，超时/429 自动降级</a:t>
                      </a:r>
                    </a:p>
                  </a:txBody>
                  <a:tcPr marL="91440" marR="91440" marT="27432" marB="27432"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02336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2A4A"/>
                </a:solidFill>
                <a:latin typeface="Microsoft YaHei"/>
                <a:ea typeface="Microsoft YaHei"/>
                <a:cs typeface="Microsoft YaHei"/>
              </a:rPr>
              <a:t>评测脚本随源码提供（py-server/experiments/），所有指标一键复现。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572000"/>
            <a:ext cx="11201400" cy="141732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572000"/>
            <a:ext cx="54864" cy="1417320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4700016"/>
            <a:ext cx="10835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86A17"/>
                </a:solidFill>
                <a:latin typeface="Microsoft YaHei"/>
                <a:ea typeface="Microsoft YaHei"/>
                <a:cs typeface="Microsoft YaHei"/>
              </a:rPr>
              <a:t>为什么可信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74920"/>
            <a:ext cx="10835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所有成效数字均为真实运行产出：检索基准（benchmark_2026-08）与验证集评测（eval_gold）均有磁盘证据与复现脚本，不包含虚构的用户实验数据。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五、工程化水平 · 完整度与可展示性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7B"/>
                </a:solidFill>
                <a:latin typeface="Microsoft YaHei"/>
                <a:ea typeface="Microsoft YaHei"/>
                <a:cs typeface="Microsoft YaHei"/>
              </a:rPr>
              <a:t>MARS-408 · 2026 福建高校「火山杯」Agent 创新大赛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810512" cy="210312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1810512" cy="54864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18105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F5C99"/>
                </a:solidFill>
                <a:latin typeface="Microsoft YaHei"/>
                <a:ea typeface="Microsoft YaHei"/>
                <a:cs typeface="Microsoft YaHei"/>
              </a:rPr>
              <a:t>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18105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前端页面
Vue 3 + TypeScript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1371600"/>
            <a:ext cx="1810512" cy="210312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1371600"/>
            <a:ext cx="1810512" cy="54864"/>
          </a:xfrm>
          <a:prstGeom prst="rect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1600200"/>
            <a:ext cx="18105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09EA8"/>
                </a:solidFill>
                <a:latin typeface="Microsoft YaHei"/>
                <a:ea typeface="Microsoft YaHei"/>
                <a:cs typeface="Microsoft YaHei"/>
              </a:rPr>
              <a:t>170+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468880"/>
            <a:ext cx="18105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API 端点
FastAPI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371600"/>
            <a:ext cx="1810512" cy="210312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371600"/>
            <a:ext cx="1810512" cy="54864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600200"/>
            <a:ext cx="18105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22A4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468880"/>
            <a:ext cx="18105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Agent 节点
LangGraph 编排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371600"/>
            <a:ext cx="1810512" cy="210312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371600"/>
            <a:ext cx="1810512" cy="54864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600200"/>
            <a:ext cx="18105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E86A17"/>
                </a:solidFill>
                <a:latin typeface="Microsoft YaHei"/>
                <a:ea typeface="Microsoft YaHei"/>
                <a:cs typeface="Microsoft YaHei"/>
              </a:rPr>
              <a:t>500+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468880"/>
            <a:ext cx="18105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自动化测试
全部通过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80" y="1371600"/>
            <a:ext cx="1810512" cy="210312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83880" y="1371600"/>
            <a:ext cx="1810512" cy="54864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1600200"/>
            <a:ext cx="18105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F5C99"/>
                </a:solidFill>
                <a:latin typeface="Microsoft YaHei"/>
                <a:ea typeface="Microsoft YaHei"/>
                <a:cs typeface="Microsoft YaHei"/>
              </a:rPr>
              <a:t>双通道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2468880"/>
            <a:ext cx="18105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LLM 自动容灾
星火 X2 + DeepSeek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04120" y="1371600"/>
            <a:ext cx="1810512" cy="210312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04120" y="1371600"/>
            <a:ext cx="1810512" cy="54864"/>
          </a:xfrm>
          <a:prstGeom prst="rect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04120" y="1600200"/>
            <a:ext cx="18105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09EA8"/>
                </a:solidFill>
                <a:latin typeface="Microsoft YaHei"/>
                <a:ea typeface="Microsoft YaHei"/>
                <a:cs typeface="Microsoft YaHei"/>
              </a:rPr>
              <a:t>单机可跑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20" y="2468880"/>
            <a:ext cx="18105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三级组件降级
Milvus / PG / Redis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840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9EA8"/>
                </a:solidFill>
                <a:latin typeface="Microsoft YaHei"/>
                <a:ea typeface="Microsoft YaHei"/>
                <a:cs typeface="Microsoft YaHei"/>
              </a:rPr>
              <a:t>▍</a:t>
            </a:r>
            <a:r>
              <a:rPr sz="140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工程完整度：API 契约测试 / 闭环流程测试 / 降级路径测试全覆盖，缺失外部组件时自动降级，保证稳定运行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9EA8"/>
                </a:solidFill>
                <a:latin typeface="Microsoft YaHei"/>
                <a:ea typeface="Microsoft YaHei"/>
                <a:cs typeface="Microsoft YaHei"/>
              </a:rPr>
              <a:t>▍</a:t>
            </a:r>
            <a:r>
              <a:rPr sz="140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可展示性：SSE 流式输出 + Agent 实时进度推送，演示效果直观流畅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9EA8"/>
                </a:solidFill>
                <a:latin typeface="Microsoft YaHei"/>
                <a:ea typeface="Microsoft YaHei"/>
                <a:cs typeface="Microsoft YaHei"/>
              </a:rPr>
              <a:t>▍</a:t>
            </a:r>
            <a:r>
              <a:rPr sz="140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演示视频与演示账号随提交物提供（demo / demo123456），开箱即用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六、落地价值 · 面向真实教育场景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7B"/>
                </a:solidFill>
                <a:latin typeface="Microsoft YaHei"/>
                <a:ea typeface="Microsoft YaHei"/>
                <a:cs typeface="Microsoft YaHei"/>
              </a:rPr>
              <a:t>MARS-408 · 2026 福建高校「火山杯」Agent 创新大赛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611880" cy="210312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54864" cy="210312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591056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5C99"/>
                </a:solidFill>
                <a:latin typeface="Microsoft YaHei"/>
                <a:ea typeface="Microsoft YaHei"/>
                <a:cs typeface="Microsoft YaHei"/>
              </a:rPr>
              <a:t>学生 · 考研刚需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65960"/>
            <a:ext cx="3246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408 备考人群基数大、需求刚性：
诊断薄弱点 → 定制路径 → 学练闭环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611880" cy="210312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54864" cy="2103120"/>
          </a:xfrm>
          <a:prstGeom prst="rect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591056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9EA8"/>
                </a:solidFill>
                <a:latin typeface="Microsoft YaHei"/>
                <a:ea typeface="Microsoft YaHei"/>
                <a:cs typeface="Microsoft YaHei"/>
              </a:rPr>
              <a:t>教师 · 学情管理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965960"/>
            <a:ext cx="3246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教师看板：班级进度 / 掌握度 / 薄弱点聚合，
从「凭经验」到「凭数据」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463040"/>
            <a:ext cx="3611880" cy="210312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463040"/>
            <a:ext cx="54864" cy="2103120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591056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6A17"/>
                </a:solidFill>
                <a:latin typeface="Microsoft YaHei"/>
                <a:ea typeface="Microsoft YaHei"/>
                <a:cs typeface="Microsoft YaHei"/>
              </a:rPr>
              <a:t>院校 · 可推广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965960"/>
            <a:ext cx="3246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A242F"/>
                </a:solidFill>
                <a:latin typeface="Microsoft YaHei"/>
                <a:ea typeface="Microsoft YaHei"/>
                <a:cs typeface="Microsoft YaHei"/>
              </a:rPr>
              <a:t>工程完整、单机可部署、双通道容灾，
可直接投入高校 / 培训机构使用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9476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2A4A"/>
                </a:solidFill>
                <a:latin typeface="Microsoft YaHei"/>
                <a:ea typeface="Microsoft YaHei"/>
                <a:cs typeface="Microsoft YaHei"/>
              </a:rPr>
              <a:t>赛道定位：精准命中「未来学习中心」三大关键词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343400"/>
            <a:ext cx="3581400" cy="1417320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26280"/>
            <a:ext cx="3307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个性化学习规划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29200"/>
            <a:ext cx="3307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E8F1FA"/>
                </a:solidFill>
                <a:latin typeface="Microsoft YaHei"/>
                <a:ea typeface="Microsoft YaHei"/>
                <a:cs typeface="Microsoft YaHei"/>
              </a:rPr>
              <a:t>画像驱动路径
薄弱点优先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102608" y="4846320"/>
            <a:ext cx="192024" cy="411480"/>
          </a:xfrm>
          <a:prstGeom prst="rightArrow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12920" y="4343400"/>
            <a:ext cx="3581400" cy="1417320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50080" y="4526280"/>
            <a:ext cx="3307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知识图谱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0080" y="5029200"/>
            <a:ext cx="3307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E8F1FA"/>
                </a:solidFill>
                <a:latin typeface="Microsoft YaHei"/>
                <a:ea typeface="Microsoft YaHei"/>
                <a:cs typeface="Microsoft YaHei"/>
              </a:rPr>
              <a:t>26 大知识群组
四科关联视图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912608" y="4846320"/>
            <a:ext cx="192024" cy="411480"/>
          </a:xfrm>
          <a:prstGeom prst="rightArrow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22920" y="4343400"/>
            <a:ext cx="3581400" cy="1417320"/>
          </a:xfrm>
          <a:prstGeom prst="roundRect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60080" y="4526280"/>
            <a:ext cx="3307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学习效果追踪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0080" y="5029200"/>
            <a:ext cx="3307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E8F1FA"/>
                </a:solidFill>
                <a:latin typeface="Microsoft YaHei"/>
                <a:ea typeface="Microsoft YaHei"/>
                <a:cs typeface="Microsoft YaHei"/>
              </a:rPr>
              <a:t>评估报告 + 教师看板
持续反馈闭环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开发工具合规声明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E8F1FA"/>
                </a:solidFill>
                <a:latin typeface="Microsoft YaHei"/>
                <a:ea typeface="Microsoft YaHei"/>
                <a:cs typeface="Microsoft YaHei"/>
              </a:rPr>
              <a:t>本项目为真实可运行的代码工程（Vue 3 + TypeScript 前端 / FastAPI + LangGraph 后端），采用 Trae（字节跳动 AI IDE）作为开发工具完成核心模块的开发与迭代；代码仓库可在 Trae 中直接打开、构建并运行，满足大赛「基于 Trae 开发」的工具要求。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AFC3DA"/>
                </a:solidFill>
                <a:latin typeface="Microsoft YaHei"/>
                <a:ea typeface="Microsoft YaHei"/>
                <a:cs typeface="Microsoft YaHei"/>
              </a:rPr>
              <a:t>关键可留痕模块：py-server/agents/graph.py · engines/frugal_rag.py · engines/gomarl.py · src/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0"/>
            <a:ext cx="12191695" cy="25400"/>
          </a:xfrm>
          <a:prstGeom prst="rect">
            <a:avLst/>
          </a:prstGeom>
          <a:solidFill>
            <a:srgbClr val="00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9EA8"/>
                </a:solidFill>
                <a:latin typeface="Microsoft YaHei"/>
                <a:ea typeface="Microsoft YaHei"/>
                <a:cs typeface="Microsoft YaHei"/>
              </a:rPr>
              <a:t>致谢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834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C9DAEC"/>
                </a:solidFill>
                <a:latin typeface="Microsoft YaHei"/>
                <a:ea typeface="Microsoft YaHei"/>
                <a:cs typeface="Microsoft YaHei"/>
              </a:rPr>
              <a:t>感谢 2026 福建高校「火山杯」Agent 创新大赛主办方与火山引擎技术支持。
开源组件：LangGraph · FastAPI · Milvus · Vue 3 · E5 等（许可清单见 OPENSOURCE_LICENSES.md）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MARS-408 · 让每一次学习都有迹可循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