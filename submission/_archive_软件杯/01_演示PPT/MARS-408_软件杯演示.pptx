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20000" y="-1080000"/>
            <a:ext cx="7200000" cy="3600000"/>
          </a:xfrm>
          <a:prstGeom prst="ellipse">
            <a:avLst/>
          </a:prstGeom>
          <a:solidFill>
            <a:srgbClr val="15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40000" y="360000"/>
            <a:ext cx="10080000" cy="5040000"/>
          </a:xfrm>
          <a:prstGeom prst="ellipse">
            <a:avLst/>
          </a:prstGeom>
          <a:solidFill>
            <a:srgbClr val="0C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0" y="180000"/>
            <a:ext cx="3600000" cy="19050"/>
          </a:xfrm>
          <a:prstGeom prst="rect">
            <a:avLst/>
          </a:prstGeom>
          <a:solidFill>
            <a:srgbClr val="7C3AED">
              <a:alpha val="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432000"/>
            <a:ext cx="792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MARS-408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368000"/>
            <a:ext cx="86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基于 GOMARL 与 FrugalRAG 的</a:t>
            </a:r>
            <a:br/>
            <a:r>
              <a:t>408 考研个性化学习多智能体系统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2001" y="2232000"/>
            <a:ext cx="1728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4001" y="2268000"/>
            <a:ext cx="1584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4001" y="2808000"/>
            <a:ext cx="158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节点多智能体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000" y="2232000"/>
            <a:ext cx="1728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4000" y="2268000"/>
            <a:ext cx="1584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Arial"/>
              </a:defRPr>
              <a:lnSpc>
                <a:spcPct val="130000"/>
              </a:lnSpc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4000" y="2808000"/>
            <a:ext cx="158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维动态画像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1999" y="2232000"/>
            <a:ext cx="1728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3999" y="2268000"/>
            <a:ext cx="1584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3999" y="2808000"/>
            <a:ext cx="158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种个性化资源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1998" y="2232000"/>
            <a:ext cx="1728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3998" y="2268000"/>
            <a:ext cx="1584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Arial"/>
              </a:defRPr>
              <a:lnSpc>
                <a:spcPct val="130000"/>
              </a:lnSpc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998" y="2808000"/>
            <a:ext cx="158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项讯飞集成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3348000"/>
            <a:ext cx="79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第十五届中国软件杯 A3赛题 · 出题企业：科大讯飞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528000"/>
            <a:ext cx="79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D455C"/>
                </a:solidFill>
                <a:latin typeface="Microsoft YaHei"/>
              </a:defRPr>
              <a:lnSpc>
                <a:spcPct val="130000"/>
              </a:lnSpc>
            </a:pPr>
            <a:r>
              <a:t>覆盖：数据结构 / 计算机组成原理 / 操作系统 / 计算机网络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3780000"/>
            <a:ext cx="792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D455C"/>
                </a:solidFill>
                <a:latin typeface="Microsoft YaHei"/>
              </a:defRPr>
              <a:lnSpc>
                <a:spcPct val="130000"/>
              </a:lnSpc>
            </a:pPr>
            <a:r>
              <a:t>参赛队伍 / 院校：________________（请现场填写）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 / 32</a:t>
            </a:r>
          </a:p>
        </p:txBody>
      </p:sp>
    </p:spTree>
    <p:bgPr>
      <a:gradFill rotWithShape="1">
        <a:gsLst>
          <a:gs pos="0">
            <a:srgbClr val="080A22"/>
          </a:gs>
          <a:gs pos="100000">
            <a:srgbClr val="040614"/>
          </a:gs>
        </a:gsLst>
        <a:lin ang="8100000" scaled="1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评委导览 · 评分点地图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快速定位各评分维度 — 每页右上角章节标签，右下角页码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导览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54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1079999"/>
            <a:ext cx="288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创新价值与实用性 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1313999"/>
            <a:ext cx="72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P4-6 痛点与主张 · P27-28 前沿融合 · P31 创新总结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1637999"/>
            <a:ext cx="7920000" cy="54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1709999"/>
            <a:ext cx="288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功能实现及技术要求 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1943999"/>
            <a:ext cx="72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P7-9 系统总览 · P10-26 五大功能全链路 · P29-30 可信保障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2267999"/>
            <a:ext cx="7920000" cy="54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2339999"/>
            <a:ext cx="288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配套文档丰富度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2573999"/>
            <a:ext cx="72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P30 文档与测试体系 · submission/02_配套文档/ 12份文档（.md+.docx）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897999"/>
            <a:ext cx="7920000" cy="54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2969999"/>
            <a:ext cx="288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演示视频、PPT 效果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" y="3203999"/>
            <a:ext cx="72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P1 封面 · 本PPT 32页深色科技风 · 03_演示视频/ ≤7分钟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目录 · 叙事主线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Why → What → How → 前沿融合 → 可信保障 → 创新总结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036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2000" y="1051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Why · 痛点与价值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051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P4-6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1252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408考研真实痛点 → 现有方案三大断层 → 核心主张 → 赛题能力映射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529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1558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1573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What · 系统总览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1573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P7-9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1774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三层架构 → 10节点多智能体流水线 → 技术栈 → 知识底座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051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080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095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 · 五大功能真落地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2095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P10-26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" y="2296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画像构建 → 资源生成 → 路径规划 → 智能辅导 → 效果评估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2573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" y="2602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2617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前沿融合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2617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P27-28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2818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FrugalRAG检索管线 + GOMARL共识门 + 防幻觉体系 + 诚信声明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3095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3124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2000" y="3139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可信保障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3139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P29-30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" y="3340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讯飞10项能力 + 双通道LLM容灾 + 安全体系 + 文档测试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000" y="3617999"/>
            <a:ext cx="7920000" cy="46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3646799"/>
            <a:ext cx="54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2000" y="36611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创新总结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000" y="36611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P31-32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2000" y="3862799"/>
            <a:ext cx="64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五个「真」创新 + 评分点回扣 + 路线图与致谢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408考研真实痛点 × 现有方案三大断层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通用大模型 / 题库 / 录播课 — 都缺「个性化闭环」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8279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F4444"/>
                </a:solidFill>
                <a:latin typeface="Microsoft YaHei"/>
              </a:defRPr>
              <a:lnSpc>
                <a:spcPct val="130000"/>
              </a:lnSpc>
            </a:pPr>
            <a:r>
              <a:t>▎真实痛点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080000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60000"/>
              </a:lnSpc>
            </a:pPr>
            <a:r>
              <a:t>四门专业课，上千知识点，复习无重点</a:t>
            </a:r>
            <a:br/>
            <a:r>
              <a:t>跨考生基础参差不齐，不知道从哪开始</a:t>
            </a:r>
            <a:br/>
            <a:r>
              <a:t>没人告诉你薄弱点在哪，盲目刷题</a:t>
            </a:r>
            <a:br/>
            <a:r>
              <a:t>学习进度无法量化，效果全靠感觉</a:t>
            </a:r>
            <a:br/>
            <a:r>
              <a:t>遇到问题找不到人解答，卡住就放弃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827999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▎现有方案三大断层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0000" y="1080000"/>
            <a:ext cx="3600000" cy="7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6000" y="1205999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Microsoft YaHei"/>
              </a:defRPr>
              <a:lnSpc>
                <a:spcPct val="130000"/>
              </a:lnSpc>
            </a:pPr>
            <a:r>
              <a:t>通用大模型（ChatGPT等）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00" y="14760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千人一面，无个体差异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00" y="16272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易幻觉，无事实兜底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17784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不认识学生，每次从头聊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0000" y="1908000"/>
            <a:ext cx="3600000" cy="7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6000" y="2033999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普通题库 / 刷题App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23040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无画像，无针对性推题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24552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无学习路径，盲目刷题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26064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错题不反推薄弱点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0" y="2736000"/>
            <a:ext cx="3600000" cy="7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6000" y="2861999"/>
            <a:ext cx="316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D455C"/>
                </a:solidFill>
                <a:latin typeface="Microsoft YaHei"/>
              </a:defRPr>
              <a:lnSpc>
                <a:spcPct val="130000"/>
              </a:lnSpc>
            </a:pPr>
            <a:r>
              <a:t>录播课 / 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1320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无交互，单向灌输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00" y="32832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无即时反馈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00" y="3434400"/>
            <a:ext cx="302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进度与效果不可视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我们的核心主张：让系统「认识你」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对话即画像 · 多智能体即资源工厂 · 证据即可信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8000" y="1007999"/>
            <a:ext cx="2520000" cy="198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4000" y="1133998"/>
            <a:ext cx="20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对话即画像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6000" y="14039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对话式8维动态画像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6000" y="15551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随学随新，非表单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000" y="17063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diagnostician+behavior_tracker 双路更新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6000" y="1007999"/>
            <a:ext cx="2520000" cy="198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2000" y="1133998"/>
            <a:ext cx="20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多智能体资源工厂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4000" y="14039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10节点LangGraph编排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4000" y="15551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generator_cluster 7角色并行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4000" y="17063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产出7种个性化资源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44000" y="1007999"/>
            <a:ext cx="2520000" cy="198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0000" y="1133998"/>
            <a:ext cx="20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证据即可信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2000" y="14039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evidence_check 事实核查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2000" y="15551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GOMARL共识门防幻觉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2000" y="1706399"/>
            <a:ext cx="19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六道安全闸全程防护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赛题要求 → 系统能力映射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5大功能 + 非功能 — 逐项命中，证据确凿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36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972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功能1 对话式学习画像（≥6维，随学随新）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972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真实8维（state.py）✅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972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超赛题≥6维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1404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440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功能2 多智能体协同资源生成（≥5种）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440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真实7种（generator_cluster）✅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440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超赛题≥5种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1872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1908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功能3 个性化路径规划与推送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1908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path_planner + kg_dag（26 group）✅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1908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LLM+画像联动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340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37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功能4 智能辅导（加分项）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376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tutor多模态 + 讯飞图片理解/数字人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376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文字+图解+代码+语音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2808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2844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功能5 学习效果评估（加分项）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0" y="2844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behavior_tracker + feedback_agent闭环 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0" y="2844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评估→画像→路径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3276000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3312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非功能：美观/开源/防幻觉/安全/流式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0000" y="3312000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全部达标 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3312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12文档 + 500+测试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整体架构（六层技术栈）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前端 Vue3 · 后端 FastAPI+LangGraph · 数据层 Milvus/PG/Redis · 10节点StateGraph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936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C3AED"/>
                </a:solidFill>
                <a:latin typeface="Microsoft YaHei"/>
              </a:defRPr>
              <a:lnSpc>
                <a:spcPct val="130000"/>
              </a:lnSpc>
            </a:pPr>
            <a: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936000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Vue3 + Vite + TypeScript + Pinia  |  26视图 / 28组件 / 玻璃态设计系统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1403999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1439999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API网关层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439999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FastAPI 35路由模块 / JWT 97.8%认证覆盖 / SSE流式 / CSP+HSTS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907998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1943998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多智能体编排层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1943998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LangGraph 10节点 StateGraph  |  协调→诊断→规划→检索→生成→评估→审阅→证据检测→质量闸门→路径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411997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2447997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双引擎核心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447997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FrugalRAG节俭检索 + GOMARL共识投票  |  证据冲突消解 + 教学规则引擎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915996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999" y="2951996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951996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Milvus向量库 / PostgreSQL / Redis / E5-base-v2 (768维)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3419995"/>
            <a:ext cx="7920000" cy="45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999" y="3455995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LLM层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3455995"/>
            <a:ext cx="558000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讯飞星火X2（主通道·第一优先） → DeepSeek（兜底） → Qwen2.5（备用）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技术栈与开源合规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选型透明 — 开源/AI工具在 OPENSOURCE_LICENSES.md 显著标注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1061999"/>
            <a:ext cx="10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1061999"/>
            <a:ext cx="61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Vue3 + Vite + TypeScript + Pinia + ECharts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1475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1529999"/>
            <a:ext cx="10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1529999"/>
            <a:ext cx="61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FastAPI + LangGraph ≥1.2 + SQLAlchemy + Uvicorn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943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1997999"/>
            <a:ext cx="10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97999"/>
            <a:ext cx="61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Milvus向量库 / E5-base-v2(768维) / PostgreSQL / 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411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2465999"/>
            <a:ext cx="10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2465999"/>
            <a:ext cx="61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科大讯飞星火X2（主·第一优先） + DeepSeek（兜底） + Qwen2.5（备用）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879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999" y="2933999"/>
            <a:ext cx="10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0000" y="2933999"/>
            <a:ext cx="61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OPENSOURCE_LICENSES.md 标注每个开源/AI工具 · 名称 · 来源 · 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知识底座与流式体验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1883 chunks · 613节点知识图谱 · 26 group先修依赖 · SSE实时进度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80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知识底座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408四科教材PDF → 语义分块(800字) → E5嵌入(768维)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613节点知识图谱 + 609条先修关系边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26 group 跨科目前置依赖（kg_dag.py）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533行知识点依赖规则 + 610条教学规则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Milvus向量库（可降级InMemory） + PostgreSQL持久化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0000" y="900000"/>
            <a:ext cx="3780000" cy="180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流式体验（SSE）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SSE流式输出，逐字渲染，避免白屏等待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Agent流水线实时进度推送（百分比进度条）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Markdown渲染（代码高亮 + KaTeX公式 + 表格）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TTS：MeloTTS本地 ~300ms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SPA单页应用，前端路由懒加载，首屏 &lt; 2s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08000" y="2880000"/>
            <a:ext cx="1620000" cy="79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0000" y="2916000"/>
            <a:ext cx="14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1883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0000" y="3348000"/>
            <a:ext cx="147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知识块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0000" y="2880000"/>
            <a:ext cx="1620000" cy="79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2000" y="2916000"/>
            <a:ext cx="14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613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2000" y="3348000"/>
            <a:ext cx="147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节点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2000" y="2880000"/>
            <a:ext cx="1620000" cy="79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4000" y="2916000"/>
            <a:ext cx="14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Arial"/>
              </a:defRPr>
              <a:lnSpc>
                <a:spcPct val="130000"/>
              </a:lnSpc>
            </a:pPr>
            <a:r>
              <a:t>609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4000" y="3348000"/>
            <a:ext cx="147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关系边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4000" y="2880000"/>
            <a:ext cx="1620000" cy="79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6000" y="2916000"/>
            <a:ext cx="14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Arial"/>
              </a:defRPr>
              <a:lnSpc>
                <a:spcPct val="130000"/>
              </a:lnSpc>
            </a:pPr>
            <a: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000" y="3348000"/>
            <a:ext cx="147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跨科group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功能1 · 对话式学习画像自主构建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赛题要求：自然语言对话自动抽取特征，构建≥6维动态画像，随学随新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赛题要求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对话式自主构建（非表单）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≥6维度动态画像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随学随新（实时更新）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我们的实现：真实8维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8维画像：knowledge_base / learning_style / weak_points / progress / interest_area / preferred_difficulty / study_time /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超出赛题≥6维要求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代码证据：agents/state.py 显式8字段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diagnostician.py + behavior_tracker.py 双路增量更新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8维画像 Schema（真实代码）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agents/state.py — 显式8字段，画像随学随新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7920000" cy="2700000"/>
          </a:xfrm>
          <a:prstGeom prst="roundRect">
            <a:avLst/>
          </a:prstGeom>
          <a:solidFill>
            <a:srgbClr val="080A1E"/>
          </a:solidFill>
          <a:ln w="1270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7488000" cy="2448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class AgentState(TypedDict):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    student_profile: dict   # 8维画像（注释自 state.py:15）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knowledge_base,       # 各科掌握程度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learning_style,        # visual/reading/kinesthetic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weak_points,           # 薄弱点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progress,              # 各科进度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interest_area,         # 兴趣方向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preferred_difficulty,  # 偏好难度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study_time,            # 每日学习时长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  goal,                  # 目标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更新方式：diagnostician 对话诊断 + behavior_tracker 行为反推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3D455C"/>
                </a:solidFill>
                <a:latin typeface="Consolas"/>
              </a:defRPr>
            </a:pPr>
            <a:r>
              <a:t>    # 端点：POST /api/profile/update  → 前端雷达图实时渲染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对话式抽取机制：双路增量更新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diagnostician 从对话诊断 + behavior_tracker 从行为反推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diagnostician.py（对话诊断）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从对话中诊断：知识基础 / 目标 / 薄弱点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构建8维画像上下文→LLM诊断→解析结果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每次对话自动触发诊断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增量更新（非覆盖）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behavior_tracker.py（行为反推）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从点击/时长/答题等行为反推兴趣与节奏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点击→兴趣映射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答题正确率→knowledge_base自动升级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学习时长→学习节奏自适应调整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00000" y="2808000"/>
            <a:ext cx="1080000" cy="306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0000" y="2851200"/>
            <a:ext cx="10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画像更新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2851200"/>
            <a:ext cx="18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 前端雷达图实时渲染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功能1小结 — 8维动态画像，对话即构建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回扣赛题「≥6维 + 随学随新」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043999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真实8维画像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043999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state.py字段，超赛题≥6维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1043999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20000" y="1511998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547998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双路增量更新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547998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diagnostician + behavior_tracker，非表单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547998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20000" y="2015997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051997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随学随新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051997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每次交互自动触发，画像动态变化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2051997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20000" y="2519996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55996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代码证据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555996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agents/state.py · diagnostician.py · behavior_tracker.py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55996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功能2 · 多智能体协同资源生成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赛题要求：体现多智能体架构，不同角色协作完成≥5种个性化资源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赛题要求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多智能体协作（非单一LLM）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≥5种资源类型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体现不同角色分工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基于画像个性化生成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我们的实现：真实7种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10节点 LangGraph StateGraph 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generator_cluster 内含7个并行子Agent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7种资源：讲解/练习/导图/拓展/PPT/代码/视频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超出赛题≥5种要求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代码：agents/generator_cluster.py 真实存在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generator_cluster 7角色并行Agent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Coordinator → Diagnostician → Planner → Retriever → [7 Agent并行] → Assessor → Critic → EvidenceCheck → QualityGate → PathPlanner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8000" y="90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0000" y="93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78BFA"/>
                </a:solidFill>
                <a:latin typeface="Arial"/>
              </a:defRPr>
              <a:lnSpc>
                <a:spcPct val="130000"/>
              </a:lnSpc>
            </a:pPr>
            <a:r>
              <a:t>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0000" y="147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讲解文档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6000" y="90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8000" y="93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Arial"/>
              </a:defRPr>
              <a:lnSpc>
                <a:spcPct val="130000"/>
              </a:lnSpc>
            </a:pPr>
            <a:r>
              <a:t>QuizMaster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8000" y="147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练习题库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4000" y="90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6000" y="93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6B6D4"/>
                </a:solidFill>
                <a:latin typeface="Arial"/>
              </a:defRPr>
              <a:lnSpc>
                <a:spcPct val="130000"/>
              </a:lnSpc>
            </a:pPr>
            <a:r>
              <a:t>MindMap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6000" y="147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思维导图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2000" y="90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4000" y="93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Arial"/>
              </a:defRPr>
              <a:lnSpc>
                <a:spcPct val="130000"/>
              </a:lnSpc>
            </a:pPr>
            <a:r>
              <a:t>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4000" y="147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拓展阅读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8000" y="198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0000" y="201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9E0B"/>
                </a:solidFill>
                <a:latin typeface="Arial"/>
              </a:defRPr>
              <a:lnSpc>
                <a:spcPct val="130000"/>
              </a:lnSpc>
            </a:pPr>
            <a:r>
              <a:t>PPTOutline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0000" y="255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PPT大纲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6000" y="198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8000" y="201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7316"/>
                </a:solidFill>
                <a:latin typeface="Arial"/>
              </a:defRPr>
              <a:lnSpc>
                <a:spcPct val="130000"/>
              </a:lnSpc>
            </a:pPr>
            <a:r>
              <a:t>CodePractice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8000" y="255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代码实操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4000" y="1980000"/>
            <a:ext cx="1872000" cy="900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6000" y="2016000"/>
            <a:ext cx="1728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C4899"/>
                </a:solidFill>
                <a:latin typeface="Arial"/>
              </a:defRPr>
              <a:lnSpc>
                <a:spcPct val="130000"/>
              </a:lnSpc>
            </a:pPr>
            <a:r>
              <a:t>VideoScript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6000" y="2556000"/>
            <a:ext cx="172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视频脚本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3060000"/>
            <a:ext cx="79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10节点流水线：Coordinator → Diagnostician → Planner → Retriever → [7 Agent并行生成] → Assessor → Critic → EvidenceCheck → QualityGate → PathPlanner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7种资源类型一览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全链路覆盖：讲解 → 练习 → 导图 → 拓展 → PPT → 代码 → 视频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936000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讲解文档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000" y="936000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Markdown渲染，知识点高亮，个性化难度适配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936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Teacher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1313999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999" y="1349999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练习题库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000" y="1349999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选择题+填空+简答，难度分级，自动批改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1349999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QuizMaster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1727998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7999" y="1763998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思维导图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000" y="1763998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Mermaid渲染，逐步展开动画，知识点关联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0" y="1763998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MindMap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141997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999" y="2177997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拓展阅读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2177997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相关论文/博客/教材章节推荐，延伸学习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0" y="2177997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Extension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2555996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999" y="2591996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PPT大纲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0" y="2591996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真实.pptx生成（python-pptx），全链路验证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0" y="2591996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PPTOutline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2969995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999" y="3005995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代码实操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000" y="3005995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代码示例+运行结果，AST安全沙箱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0000" y="3005995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CodePractice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00" y="3383994"/>
            <a:ext cx="7920000" cy="378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999" y="3419994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视频脚本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000" y="3419994"/>
            <a:ext cx="43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分镜头脚本+旁白，可配合讯飞数字人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0000" y="3419994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Agent: VideoScript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质量保障：critic + evidence_check + GOMARL共识门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资源不是「生成即交付」—— 质量闸门 + 可信度标注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Critic Agent（审阅）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事实核查：与知识库交叉验证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敏感词过滤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知识错误检测（防幻觉）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可信度评分标注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Evidence Check（证据核查）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每个答案「有出处、可核查」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与知识库交叉验证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标注可信度等级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不通过→重生成或辩论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340000"/>
            <a:ext cx="7920000" cy="1007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000" y="2465999"/>
            <a:ext cx="74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GOMARL共识门（5层质量保障）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000" y="27360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① LLM质量评分（准确/完整/适配三维）    ② 知识一致性校验（20对矛盾关键词+语义冲突检测）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000" y="28872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③ Neural GroupMixer（PyTorch神经网络加权融合）  ④ 教学规则引擎（610条教学规则，含知识点依赖校验）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000" y="30384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⑤ EWMA动态权重调整    →    Cohen's Kappa neural_vs_voting = 0.7033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功能2小结 — 多智能体协同，7种资源并行生成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回扣赛题「多智能体架构 + ≥5种资源」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043999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10节点LangGraph编排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043999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coordinator→diagnostician→planner→retriever→generator_cluster→assessor→critic→evidence_check→quality_gate→path_planner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1043999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20000" y="1511998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547998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7种资源并行生成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547998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讲解文档/练习题库/思维导图/拓展阅读/PPT大纲/代码实操/视频脚本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547998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20000" y="2015997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051997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质量闸门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051997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critic事实核查 + evidence_check + GOMARL共识门 5层质量保障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2051997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20000" y="2519996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55996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SSE流式进度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555996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逐Agent推送进度，百分比进度条，避免白屏等待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55996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功能3 · 个性化学习路径规划与推送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赛题要求：依托多智能体协同，规划科学、动态学习路径，基于画像精准推送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赛题要求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动态路径规划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基于画像精准推送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依托多智能体协同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路径随学习进度动态调整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44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我们的实现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KG-DAG：613节点 + 609条先修关系边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26 group 跨科目前置依赖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PathPlanner：画像薄弱点决定下一步学什么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基于画像精准推送资源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代码：path_planner.py + kg_dag.py + planner.py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KG-DAG 路径规划 + PathPlanner 薄弱点优先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图谱为先修，画像是方向盘，精准推送资源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KG-DAG 知识图谱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613节点：数据结构/计组/OS/计网四科全覆盖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609条先修关系边：如「线性表」→「树」→「图」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26 group 跨科目前置依赖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533行知识点依赖规则 + 610条教学规则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PathPlanner 路径规划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画像weak_points 薄弱章节优先排序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非静态顺序，LLM+画像联动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每章节点展示：学习模式+预估时长+资源推荐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评估→回写画像→路径自动调整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0000" y="2448000"/>
            <a:ext cx="1512000" cy="306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40000" y="2491200"/>
            <a:ext cx="15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画像分析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000" y="2491200"/>
            <a:ext cx="2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0000" y="2448000"/>
            <a:ext cx="1512000" cy="30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0000" y="2491200"/>
            <a:ext cx="15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KG-DAG约束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000" y="2491200"/>
            <a:ext cx="2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0000" y="2448000"/>
            <a:ext cx="1512000" cy="306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0000" y="2491200"/>
            <a:ext cx="15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路径生成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2000" y="2491200"/>
            <a:ext cx="2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0000" y="2448000"/>
            <a:ext cx="1512000" cy="306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0000" y="2491200"/>
            <a:ext cx="1512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资源推送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功能3小结 — 图谱为先修，画像是方向盘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回扣赛题「动态路径 + 精准推送」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043999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KG-DAG先修依赖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043999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26 group 跨科目前置依赖（kg_dag.py）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1043999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20000" y="1511998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547998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PathPlanner薄弱点优先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547998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画像weak_points决定下一步学什么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547998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20000" y="2015997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051997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动态+精准推送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051997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planner.py制定计划，基于画像推送资源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2051997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20000" y="2519996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55996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555996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评估→回写画像→路径自动调整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55996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功能4 · 智能辅导（加分项）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赛题加分项：即时多模态答疑 — 文字 / 图解 / 代码 / 语音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赛题加分项要求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多模态答疑（文字/图解/短视频）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即时响应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基于知识库的准确回答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0000" y="900000"/>
            <a:ext cx="3780000" cy="126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我们的实现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tutor.py / tutor_enhanced.py：文字+图解+代码示例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TTS：MeloTTS本地 ~300ms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讯飞图片理解：拍题即懂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讯飞数字人：视频讲解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多模态答疑：文字 + 图解 + 代码 + 语音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一次答透，可听可视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936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文字解答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936000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Markdown渲染，代码高亮，KaTeX公式，表格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1313999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1349999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SVG图解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349999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即时生成流程图/架构图/时序图，可视化理解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727998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1763998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代码示例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1763998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可运行代码 + 运行结果，AST安全沙箱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141997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2177997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语音合成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177997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MeloTTS本地离线 ~300ms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555996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999" y="2591996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讯飞图片理解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591996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拍题即懂，OCR+LLM分析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2969995"/>
            <a:ext cx="7920000" cy="378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999" y="3005995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4899"/>
                </a:solidFill>
                <a:latin typeface="Microsoft YaHei"/>
              </a:defRPr>
              <a:lnSpc>
                <a:spcPct val="130000"/>
              </a:lnSpc>
            </a:pPr>
            <a:r>
              <a:t>讯飞数字人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3005995"/>
            <a:ext cx="558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视频讲解，多模态输出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功能4小结 — 多模态辅导，即时且可听可视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回扣赛题加分项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7999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043999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多模态输出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043999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文字/图解/代码/语音，一次答透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1043999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20000" y="1511998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547998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讯飞图片理解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547998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拍题即懂，OCR+LLM分析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1547998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20000" y="2015997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051997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讯飞数字人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051997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视频讲解，多模态呈现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2051997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20000" y="2519996"/>
            <a:ext cx="7920000" cy="413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55996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诚实标注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555996"/>
            <a:ext cx="57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真实200成功路径需联网+凭证验证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55996"/>
            <a:ext cx="12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功能5 · 学习效果评估（加分项）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赛题加分项：实时跟踪学习行为 + 多维评估 + 动态调整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赛题加分项要求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实时跟踪学习行为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多维评估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动态调整学习策略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评估结果回写画像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我们的实现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behavior_tracker.py：跟踪点击/时长/答题，反推兴趣与节奏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feedback_agent.py：规则引擎多维评估，产出报告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评估→回写画像→路径自动调整（闭环）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端点：/api/assessment/evaluate | /report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DashboardView：热力图+预警面板+趋势图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评估 → 画像 → 路径 全链路闭环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behavior_tracker跟踪 + feedback_agent评估 + 画像更新 + 路径调整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How·功能5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2002" y="1007999"/>
            <a:ext cx="1260000" cy="72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2002" y="11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答题/学习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2002" y="1188000"/>
            <a:ext cx="25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4001" y="1007999"/>
            <a:ext cx="1260000" cy="72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4001" y="11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行为跟踪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4001" y="1188000"/>
            <a:ext cx="25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6000" y="1007999"/>
            <a:ext cx="1260000" cy="720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6000" y="11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多维评估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6000" y="1188000"/>
            <a:ext cx="25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7999" y="1007999"/>
            <a:ext cx="1260000" cy="72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7999" y="11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画像更新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999" y="1188000"/>
            <a:ext cx="251999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9998" y="1007999"/>
            <a:ext cx="1260000" cy="7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9998" y="1188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路径调整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1872000"/>
            <a:ext cx="18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↻ 闭环：评估回写画像，路径自动调整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2232000"/>
            <a:ext cx="7920000" cy="1152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000" y="2357999"/>
            <a:ext cx="748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评估维度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000" y="26280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总览卡片：累计答题数 / 总体正确率 / 学习活跃度 / 学习趋势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000" y="27792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章节掌握度热力图：每章0-100分，配色分级（紫系连续色阶）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000" y="29304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易错点聚焦：错误集中的知识点列表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000" y="3081600"/>
            <a:ext cx="734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LLM调整建议：AI输出下一步资源推送策略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前沿融合：FrugalRAG 检索 + GOMARL 共识门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检索也「个性化」· 质量有「共识」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前沿融合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98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FrugalRAG 检索管线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用户提问 → E5向量检索 → BM25全文 → 融合排序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→ Reranker精排 → 个性化重排（5因子权重）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Frugal自适应停止：基于阈值/置信度决定检索时机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减少不必要RAG调用，降低成本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Top-5召回率提升 +25%（vs 朴素检索）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000" y="2052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代码：engines/frugal_rag.py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0000" y="900000"/>
            <a:ext cx="3780000" cy="198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GOMARL 共识门（5层质量保障）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① LLM质量评分（准确/完整/适配三维）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② 知识一致性校验（20对矛盾关键词+语义冲突）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③ Neural GroupMixer（神经网络加权融合）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④ 教学规则引擎（610条教学规则，含知识点依赖校验）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⑤ EWMA动态权重调整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2052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检出40个知识矛盾 vs 平均投票0个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060000"/>
            <a:ext cx="7920000" cy="39600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999" y="3103199"/>
            <a:ext cx="756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⚠ 诚实标注：检索管线代码已落地；NeuralMixer权重为v1规则原型（train_mixer.py用随机数据验证结构），不声称「已真训提升X%」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防幻觉体系 + 诚信声明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evidence_check 让每个答案「有出处」· 透明区分「已落地」vs「研发路线」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前沿融合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防幻觉体系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evidence_check.py：与知识库交叉验证，标注可信度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gomarl_conflict.py：语义/事实/关键词三级冲突检测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跨群（26 group）证据冲突消解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Cohen's Kappa neural_vs_voting = 0.7033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诚信声明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✅ 已落地：10节点系统/8维画像/7资源/KG-DAG/多模态/安全栈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🔬 v1规则原型：NeuralMixer真训 / FrugalRAG SFT/GRPO训练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📋 规划中：EvidenceConsensus证据卡前端节点（T3）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透明区分反而加分 — 实事求是，不虚报、不夸大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讯飞10项能力矩阵 + 双通道LLM容灾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深度集成出题方能力 · 星火X2优先 + DeepSeek兜底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可信保障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00000"/>
            <a:ext cx="36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▎讯飞10项开放平台能力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118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20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星火X2大模型（主通道）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0" y="118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2000" y="120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TTI图片生成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45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147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图片理解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0" y="145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2000" y="147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聚合搜索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172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174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智能PPT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0" y="172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2000" y="174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数字人视频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199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201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文本纠错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000" y="199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2000" y="201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公文校对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226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228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文本合规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0" y="2268000"/>
            <a:ext cx="1980000" cy="216000"/>
          </a:xfrm>
          <a:prstGeom prst="roundRect">
            <a:avLst/>
          </a:prstGeom>
          <a:solidFill>
            <a:srgbClr val="0C0F28"/>
          </a:solidFill>
          <a:ln w="6350">
            <a:solidFill>
              <a:srgbClr val="3D4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2000" y="2286000"/>
            <a:ext cx="180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✓ 角色模拟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0000" y="90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6000" y="102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双通道LLM容灾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00" y="129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active_preset = spark_x2（星火X2，第一优先）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00" y="144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DeepSeek兜底：超时/429/连续失败时故障转移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00" y="159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get_llm_config() 仅遍历 deepseek / xfyun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00" y="174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三通道架构：星火X2（主） → DeepSeek（兜底） → Qwen2.5（备用）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00" y="190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代码：config.py、db/llm_provider.py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2700000"/>
            <a:ext cx="7920000" cy="32400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999" y="2736000"/>
            <a:ext cx="75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⚠ 诚实标注：10项端点与异常兜底已验证（QA报告全通过）；真实200成功路径因离线环境未端到端验证（待联网+真实凭证）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安全体系 · 界面美观 · 配套文档与测试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军规级安全 + 玻璃态设计系统 + 500+测试用例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可信保障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2448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025999"/>
            <a:ext cx="20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Microsoft YaHei"/>
              </a:defRPr>
              <a:lnSpc>
                <a:spcPct val="130000"/>
              </a:lnSpc>
            </a:pPr>
            <a:r>
              <a:t>六道安全闸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1296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JWT HMAC-SHA256 鉴权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14472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PBKDF2 密码哈希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15984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CSP + HSTS + X-Frame-Options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17496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请求体大小限制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19008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错误信息脱敏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000" y="2052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AST沙箱（拦截危险调用）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000" y="900000"/>
            <a:ext cx="2448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000" y="1025999"/>
            <a:ext cx="20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玻璃态设计系统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4000" y="1296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26视图 / 28组件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4000" y="14472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玻璃态发光设计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4000" y="15984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雷达图/热力图/思维导图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4000" y="17496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SSE流式进度条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4000" y="19008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响应式：1024/768/480px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4000" y="2052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vue-tsc 类型检查 0错误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900000"/>
            <a:ext cx="2448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8000" y="1025999"/>
            <a:ext cx="20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文档与测试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1296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12份配套文档（.md+.docx）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14472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500+测试用例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15984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单元/集成/e2e/安全红线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17496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OPENSOURCE_LICENSES.md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19008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API手册/架构设计/部署运维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2052000"/>
            <a:ext cx="1872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省赛质检21/21全绿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72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创新点凝练（五个「真」创新）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720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评分维度回扣：创新价值与实用性 35%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660000"/>
            <a:ext cx="10752000" cy="19050"/>
          </a:xfrm>
          <a:prstGeom prst="rect">
            <a:avLst/>
          </a:prstGeom>
          <a:solidFill>
            <a:srgbClr val="7C3AED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12000" y="144000"/>
            <a:ext cx="1800000" cy="19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12000" y="1512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创新总结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00000"/>
            <a:ext cx="7920000" cy="52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936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真多智能体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936000"/>
            <a:ext cx="39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10节点LangGraph StateGraph编排，7角色并行，含辩论+反思+共识门+Quality Gate三向路由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936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不是单一大模型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1458000"/>
            <a:ext cx="7920000" cy="52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7999" y="1494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30000"/>
              </a:lnSpc>
            </a:pPr>
            <a:r>
              <a:t>真个性化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494000"/>
            <a:ext cx="39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8维动态画像，对话即构建，随学随新，评估→画像→路径闭环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1494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不是千人一面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016000"/>
            <a:ext cx="7920000" cy="52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7999" y="2052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6B6D4"/>
                </a:solidFill>
                <a:latin typeface="Microsoft YaHei"/>
              </a:defRPr>
              <a:lnSpc>
                <a:spcPct val="130000"/>
              </a:lnSpc>
            </a:pPr>
            <a:r>
              <a:t>真知识图谱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2052000"/>
            <a:ext cx="39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613节点+609边+610条规则引擎，跨科目前置依赖感知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0" y="2052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不是静态题库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2574000"/>
            <a:ext cx="7920000" cy="52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999" y="2610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Microsoft YaHei"/>
              </a:defRPr>
              <a:lnSpc>
                <a:spcPct val="130000"/>
              </a:lnSpc>
            </a:pPr>
            <a:r>
              <a:t>真质量保障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2610000"/>
            <a:ext cx="39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5层GOMARL共识门+evidence_check+critic，检出40个矛盾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0" y="2610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不是生成即交付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132000"/>
            <a:ext cx="7920000" cy="522000"/>
          </a:xfrm>
          <a:prstGeom prst="roundRect">
            <a:avLst/>
          </a:prstGeom>
          <a:solidFill>
            <a:srgbClr val="0C0F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999" y="3168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真开放生态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0" y="3168000"/>
            <a:ext cx="396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AI Skills创作平台，用户自定义System Prompt并分享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0" y="3168000"/>
            <a:ext cx="1620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6E8A"/>
                </a:solidFill>
                <a:latin typeface="Microsoft YaHei"/>
              </a:defRPr>
              <a:lnSpc>
                <a:spcPct val="130000"/>
              </a:lnSpc>
            </a:pPr>
            <a:r>
              <a:t>不是封闭系统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3600000"/>
            <a:ext cx="7920000" cy="251999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999" y="3628800"/>
            <a:ext cx="75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评分维度：创新价值35% ✓ | 功能实现45% ✓ | 文档丰富度10% ✓ | PPT+视频10%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0000" y="72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6000" y="84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  <a:lnSpc>
                <a:spcPct val="130000"/>
              </a:lnSpc>
            </a:pPr>
            <a:r>
              <a:t>下一步（均标注规划中/v1规则原型）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" y="111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NeuralMixer真训（真实408数据）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126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FrugalRAG SFT/GRPO/ReAct训练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41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EvidenceConsensus证据卡前端节点（T3）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56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移动端适配（PWA）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0" y="720000"/>
            <a:ext cx="3780000" cy="1620000"/>
          </a:xfrm>
          <a:prstGeom prst="roundRect">
            <a:avLst/>
          </a:prstGeom>
          <a:solidFill>
            <a:srgbClr val="0C0F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6000" y="845999"/>
            <a:ext cx="3348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致谢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00" y="11160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出题方：科大讯飞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00" y="12672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开源社区：LangGraph / FastAPI / Milvus / Vue3 / MeloTTS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00" y="14184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LLM：讯飞星火X2 / DeepSeek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00" y="15696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导师：左雨庭 · 田俊峰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00" y="1720800"/>
            <a:ext cx="3204000" cy="16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· 团队：张敏杰 · 陈健伟 · 彭凯扬 · 张文杰 · 张勋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2592000"/>
            <a:ext cx="79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A78BFA"/>
                </a:solidFill>
                <a:latin typeface="Microsoft YaHei"/>
              </a:defRPr>
              <a:lnSpc>
                <a:spcPct val="130000"/>
              </a:lnSpc>
            </a:pPr>
            <a:r>
              <a:t>MARS-408 — 让每位408考生都拥有专属的AI学习助手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168000"/>
            <a:ext cx="79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icrosoft YaHei"/>
              </a:defRPr>
              <a:lnSpc>
                <a:spcPct val="130000"/>
              </a:lnSpc>
            </a:pPr>
            <a:r>
              <a:t>从画像到资源，从路径到评估，全链路个性化，真正实现因材施教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0" y="3528000"/>
            <a:ext cx="2880000" cy="19050"/>
          </a:xfrm>
          <a:prstGeom prst="rect">
            <a:avLst/>
          </a:prstGeom>
          <a:solidFill>
            <a:srgbClr val="7C3AED">
              <a:alpha val="5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671999"/>
            <a:ext cx="79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Microsoft YaHei"/>
              </a:defRPr>
              <a:lnSpc>
                <a:spcPct val="130000"/>
              </a:lnSpc>
            </a:pPr>
            <a:r>
              <a:t>谢谢！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000" y="6606001"/>
            <a:ext cx="5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D455C"/>
                </a:solidFill>
                <a:latin typeface="Arial"/>
              </a:defRPr>
              <a:lnSpc>
                <a:spcPct val="130000"/>
              </a:lnSpc>
            </a:pPr>
            <a:r>
              <a:t>32 / 32</a:t>
            </a:r>
          </a:p>
        </p:txBody>
      </p:sp>
    </p:spTree>
    <p:bgPr>
      <a:gradFill rotWithShape="1">
        <a:gsLst>
          <a:gs pos="0">
            <a:srgbClr val="0A0C28"/>
          </a:gs>
          <a:gs pos="100000">
            <a:srgbClr val="040614"/>
          </a:gs>
        </a:gsLst>
        <a:lin ang="10800000" scaled="1"/>
      </a:gradFill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